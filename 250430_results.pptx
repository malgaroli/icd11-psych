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3"/>
  </p:normalViewPr>
  <p:slideViewPr>
    <p:cSldViewPr snapToGrid="0">
      <p:cViewPr varScale="1">
        <p:scale>
          <a:sx n="90" d="100"/>
          <a:sy n="90" d="100"/>
        </p:scale>
        <p:origin x="23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28C3-53BC-F18B-542E-33340E45D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DCB7E-90FD-F68E-3C3B-672A6F83D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7049-1847-287B-EB3B-E03993013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4F224-1D04-66EE-8DA7-E15B61623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9317D-662B-6DED-2572-22881DD0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25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FE75-A835-D0F9-20CE-B45EB555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ABA45-FC0D-1C1D-D326-7FB3AEC47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E29FC-1734-FE76-1933-3980756F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A886D-2961-59E6-F77A-FB20704B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1F104-338D-293E-4DD9-BC4DF0FE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5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AE42-A60C-54A6-4E4A-76E77172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569BF-C1C8-6ED4-CDB4-443AF1ED0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20AA0-A15C-882B-B05C-8E457929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68211-D57F-EBBB-6D76-607DD17E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BE580-7FB6-74A3-9D5D-074FDFC6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2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28D11-C35F-9F7C-9465-6EFD4B20B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41DD9-FFCD-11CB-6393-042CCF480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B1E27B-3641-C806-E645-4409AD5C6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E2880-BC98-CCBF-B92A-B3EDE8C3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360B1-C832-25F9-1ACC-EAE2F45A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1323B-9E8E-58A8-211D-BC4780F4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88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1FB1-0BD5-0648-E67D-ABE2BFD2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A129A-8411-9F2E-0E0B-098393FAF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F8FF-F9B0-B4BC-9630-361ACA137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F1D16-1E28-FD09-E3FC-1D3E93369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E25C6-3A8C-472D-0836-18FDA30AF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731EDA-7DCF-3734-5E28-6C604E03F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3292C5-F6B3-82F2-53F5-25968231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C1031-840F-0B00-4EB3-AB4DD667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7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16EE-0113-7251-2B0A-BD6F8710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BAE9F-B651-1A0A-6666-399174B1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6A4A9-F59D-B9E7-89D2-9AA11FDE9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422C6-2595-15BA-E458-82AC1E6DE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7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5DF574-7FF7-0E45-44BC-AD34A296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D7ACA-61A7-B213-6FC2-8F2F79D48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D79A1-4481-D724-98C4-E2672232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2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CFEA-0F1E-6BFD-E299-B9D49A54B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5C5D6-B31E-D363-23F6-925DCDDE4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BCA72-62B5-AF32-48F3-F9C28AA1B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F8181-B885-6D44-95EE-B08185721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D4735-EEED-77FF-1EA0-43CBDDED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86889-7BDA-09C6-11BA-AE17C9B2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0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E876-E2AD-F1DE-FE45-09FF23B8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B82637-6AFA-E610-7DF4-D2239A060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129E6-1A31-D0A4-26D2-EE166310B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146C1-5CAA-6614-35E6-A0F677D9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4E866-6513-1918-B28D-B2647547D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89206-AD6E-5649-C329-2D03FA56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3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5645-C9BE-64B2-9554-C0BEC70F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E168C-FEDF-8946-E40E-C434090BD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28EBF-D4F6-FB82-9129-0A53FE6B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CAA73-2339-80FE-ADCC-A66251E94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8F560-793F-A6DC-B35F-10D1249D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5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FCBB2-86B3-A57F-AD37-9928B63FF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AAFCD-312A-6F9C-CC64-E77A62912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536CF-7240-F6A9-F711-EAE595DB8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B5C0B-CD81-B4FC-3AA6-D8319407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7E7B7-D561-CD64-894D-946438AA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2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342C17-1EC4-B840-8729-F72A1BFB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B1341-9D7C-7368-9D40-ADC499D62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78462-53B2-C021-638A-4628413F1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734F1-3E50-1842-978D-C8A7E2141248}" type="datetimeFigureOut">
              <a:rPr lang="en-US" smtClean="0"/>
              <a:t>4/30/25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C2C65-1B92-CE91-969A-E062FA514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54F19-46BE-85D6-56B7-56CC36296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FE323-2827-2141-9FD1-22CF15E057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2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16102D-84FC-DA9E-8D4A-39E07086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763"/>
          </a:xfrm>
        </p:spPr>
        <p:txBody>
          <a:bodyPr/>
          <a:lstStyle/>
          <a:p>
            <a:r>
              <a:rPr lang="en-US" dirty="0"/>
              <a:t>Migrated to </a:t>
            </a:r>
            <a:r>
              <a:rPr lang="en-US" dirty="0" err="1"/>
              <a:t>huggingface</a:t>
            </a:r>
            <a:r>
              <a:rPr lang="en-US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89D88A-D283-7F8D-FBAE-C6356E1F4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PromptBuilder</a:t>
            </a:r>
            <a:r>
              <a:rPr lang="en-US" dirty="0"/>
              <a:t> Object</a:t>
            </a:r>
          </a:p>
          <a:p>
            <a:r>
              <a:rPr lang="en-US" dirty="0"/>
              <a:t>LLM Object</a:t>
            </a:r>
          </a:p>
        </p:txBody>
      </p:sp>
    </p:spTree>
    <p:extLst>
      <p:ext uri="{BB962C8B-B14F-4D97-AF65-F5344CB8AC3E}">
        <p14:creationId xmlns:p14="http://schemas.microsoft.com/office/powerpoint/2010/main" val="1976814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16102D-84FC-DA9E-8D4A-39E07086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763"/>
          </a:xfrm>
        </p:spPr>
        <p:txBody>
          <a:bodyPr/>
          <a:lstStyle/>
          <a:p>
            <a:r>
              <a:rPr lang="en-US" dirty="0"/>
              <a:t>Results with </a:t>
            </a:r>
            <a:r>
              <a:rPr lang="en-US" dirty="0" err="1"/>
              <a:t>Huggingface</a:t>
            </a:r>
            <a:endParaRPr lang="en-US" dirty="0"/>
          </a:p>
        </p:txBody>
      </p:sp>
      <p:pic>
        <p:nvPicPr>
          <p:cNvPr id="3" name="Picture 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CB0CD703-EFEB-A223-430C-8078E9CCA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59" y="1857375"/>
            <a:ext cx="5960533" cy="447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F43BF0-1F6A-0B2E-C049-41432ECB2042}"/>
              </a:ext>
            </a:extLst>
          </p:cNvPr>
          <p:cNvSpPr txBox="1"/>
          <p:nvPr/>
        </p:nvSpPr>
        <p:spPr>
          <a:xfrm>
            <a:off x="2661602" y="1428751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llama31</a:t>
            </a:r>
          </a:p>
        </p:txBody>
      </p:sp>
      <p:pic>
        <p:nvPicPr>
          <p:cNvPr id="8" name="Picture 7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9CD3204F-4CA3-05B2-AE02-59E8C4D39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009" y="1971675"/>
            <a:ext cx="5655732" cy="4241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FC925A-D0C8-EDCF-744A-D8944721AA9A}"/>
              </a:ext>
            </a:extLst>
          </p:cNvPr>
          <p:cNvSpPr txBox="1"/>
          <p:nvPr/>
        </p:nvSpPr>
        <p:spPr>
          <a:xfrm>
            <a:off x="8786177" y="1428751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llama32</a:t>
            </a:r>
          </a:p>
        </p:txBody>
      </p:sp>
    </p:spTree>
    <p:extLst>
      <p:ext uri="{BB962C8B-B14F-4D97-AF65-F5344CB8AC3E}">
        <p14:creationId xmlns:p14="http://schemas.microsoft.com/office/powerpoint/2010/main" val="1341580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16102D-84FC-DA9E-8D4A-39E07086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763"/>
          </a:xfrm>
        </p:spPr>
        <p:txBody>
          <a:bodyPr/>
          <a:lstStyle/>
          <a:p>
            <a:r>
              <a:rPr lang="en-US" dirty="0"/>
              <a:t>Results with </a:t>
            </a:r>
            <a:r>
              <a:rPr lang="en-US" dirty="0" err="1"/>
              <a:t>Huggingface</a:t>
            </a:r>
            <a:endParaRPr lang="en-US" dirty="0"/>
          </a:p>
        </p:txBody>
      </p:sp>
      <p:pic>
        <p:nvPicPr>
          <p:cNvPr id="3" name="Picture 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CB0CD703-EFEB-A223-430C-8078E9CCA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59" y="1857375"/>
            <a:ext cx="5960533" cy="447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F43BF0-1F6A-0B2E-C049-41432ECB2042}"/>
              </a:ext>
            </a:extLst>
          </p:cNvPr>
          <p:cNvSpPr txBox="1"/>
          <p:nvPr/>
        </p:nvSpPr>
        <p:spPr>
          <a:xfrm>
            <a:off x="2661602" y="1428751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llama31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C925A-D0C8-EDCF-744A-D8944721AA9A}"/>
              </a:ext>
            </a:extLst>
          </p:cNvPr>
          <p:cNvSpPr txBox="1"/>
          <p:nvPr/>
        </p:nvSpPr>
        <p:spPr>
          <a:xfrm>
            <a:off x="8786177" y="1428751"/>
            <a:ext cx="92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mistral</a:t>
            </a:r>
          </a:p>
        </p:txBody>
      </p:sp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0B4FF3E2-004F-B10C-C991-E5BB34BC9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467" y="1857375"/>
            <a:ext cx="5960533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8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16102D-84FC-DA9E-8D4A-39E07086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763"/>
          </a:xfrm>
        </p:spPr>
        <p:txBody>
          <a:bodyPr/>
          <a:lstStyle/>
          <a:p>
            <a:r>
              <a:rPr lang="en-US" dirty="0"/>
              <a:t>Results with </a:t>
            </a:r>
            <a:r>
              <a:rPr lang="en-US" dirty="0" err="1"/>
              <a:t>Huggingface</a:t>
            </a:r>
            <a:r>
              <a:rPr lang="en-US" dirty="0"/>
              <a:t> – updated labels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4A9A07-F170-28D3-7E4C-D837F5C5A0EF}"/>
              </a:ext>
            </a:extLst>
          </p:cNvPr>
          <p:cNvSpPr txBox="1"/>
          <p:nvPr/>
        </p:nvSpPr>
        <p:spPr>
          <a:xfrm>
            <a:off x="485775" y="1691561"/>
            <a:ext cx="526586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Potential anxiety-related diagnoses (ICD11):</a:t>
            </a:r>
          </a:p>
          <a:p>
            <a:r>
              <a:rPr lang="en-US" dirty="0"/>
              <a:t>- Generalized Anxiety Disorder</a:t>
            </a:r>
          </a:p>
          <a:p>
            <a:r>
              <a:rPr lang="en-US" dirty="0"/>
              <a:t>- </a:t>
            </a:r>
            <a:r>
              <a:rPr lang="en-US" dirty="0">
                <a:highlight>
                  <a:srgbClr val="FFFF00"/>
                </a:highlight>
              </a:rPr>
              <a:t>Generalized Anxiety Disorder AND Panic Disorder  </a:t>
            </a:r>
          </a:p>
          <a:p>
            <a:r>
              <a:rPr lang="en-US" dirty="0"/>
              <a:t>- Panic Disorder  </a:t>
            </a:r>
          </a:p>
          <a:p>
            <a:r>
              <a:rPr lang="en-US" dirty="0"/>
              <a:t>- Agoraphobia</a:t>
            </a:r>
          </a:p>
          <a:p>
            <a:r>
              <a:rPr lang="en-US" dirty="0"/>
              <a:t>- </a:t>
            </a:r>
            <a:r>
              <a:rPr lang="en-US" dirty="0">
                <a:highlight>
                  <a:srgbClr val="FFFF00"/>
                </a:highlight>
              </a:rPr>
              <a:t>Agoraphobia AND Panic Disorder </a:t>
            </a:r>
          </a:p>
          <a:p>
            <a:r>
              <a:rPr lang="en-US" dirty="0"/>
              <a:t>- Specific Phobia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- Specific Phobia AND Panic Disorder </a:t>
            </a:r>
          </a:p>
          <a:p>
            <a:r>
              <a:rPr lang="en-US" dirty="0"/>
              <a:t>- Social Anxiety Disorder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- Social Anxiety Disorder AND Panic Disorder </a:t>
            </a:r>
          </a:p>
          <a:p>
            <a:r>
              <a:rPr lang="en-US" dirty="0"/>
              <a:t>- Separation Anxiety Disorder</a:t>
            </a:r>
          </a:p>
          <a:p>
            <a:r>
              <a:rPr lang="en-US" dirty="0"/>
              <a:t>- </a:t>
            </a:r>
            <a:r>
              <a:rPr lang="en-US" dirty="0">
                <a:highlight>
                  <a:srgbClr val="FFFF00"/>
                </a:highlight>
              </a:rPr>
              <a:t>Separation Anxiety Disorder AND Panic Disorder </a:t>
            </a:r>
          </a:p>
          <a:p>
            <a:r>
              <a:rPr lang="en-US" dirty="0"/>
              <a:t>- Selective Mutism</a:t>
            </a:r>
          </a:p>
          <a:p>
            <a:r>
              <a:rPr lang="en-US" dirty="0"/>
              <a:t>- Other Anxiety and Fear-Related Disorder</a:t>
            </a:r>
          </a:p>
          <a:p>
            <a:r>
              <a:rPr lang="en-US" dirty="0"/>
              <a:t>- </a:t>
            </a:r>
            <a:r>
              <a:rPr lang="en-US" dirty="0">
                <a:highlight>
                  <a:srgbClr val="FFFF00"/>
                </a:highlight>
              </a:rPr>
              <a:t>Unspecified Anxiety and Fear-Related Disorder</a:t>
            </a:r>
          </a:p>
          <a:p>
            <a:r>
              <a:rPr lang="en-US" dirty="0">
                <a:highlight>
                  <a:srgbClr val="FFFF00"/>
                </a:highlight>
              </a:rPr>
              <a:t>- A different diagnosis</a:t>
            </a:r>
          </a:p>
          <a:p>
            <a:r>
              <a:rPr lang="en-US" dirty="0"/>
              <a:t>- No Diagnosis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57A9E-3712-F5BF-43FD-2848882908BE}"/>
              </a:ext>
            </a:extLst>
          </p:cNvPr>
          <p:cNvSpPr txBox="1"/>
          <p:nvPr/>
        </p:nvSpPr>
        <p:spPr>
          <a:xfrm>
            <a:off x="6800850" y="1782922"/>
            <a:ext cx="441646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Potential mood-related diagnoses (ICD11):</a:t>
            </a:r>
          </a:p>
          <a:p>
            <a:r>
              <a:rPr lang="en-US" dirty="0"/>
              <a:t>- Single Episode Depressive Disorder</a:t>
            </a:r>
          </a:p>
          <a:p>
            <a:r>
              <a:rPr lang="en-US" dirty="0"/>
              <a:t>- Recurrent Depressive Disorder</a:t>
            </a:r>
          </a:p>
          <a:p>
            <a:r>
              <a:rPr lang="en-US" dirty="0"/>
              <a:t>- Dysthymic Disorder</a:t>
            </a:r>
          </a:p>
          <a:p>
            <a:r>
              <a:rPr lang="en-US" dirty="0"/>
              <a:t>- Mixed Depressive and Anxiety Disorder</a:t>
            </a:r>
          </a:p>
          <a:p>
            <a:r>
              <a:rPr lang="en-US" dirty="0"/>
              <a:t>- Bipolar Type I Disorder</a:t>
            </a:r>
          </a:p>
          <a:p>
            <a:r>
              <a:rPr lang="en-US" dirty="0"/>
              <a:t>- Bipolar Type II Disorder</a:t>
            </a:r>
          </a:p>
          <a:p>
            <a:r>
              <a:rPr lang="en-US" dirty="0"/>
              <a:t>- Cyclothymic Disorder</a:t>
            </a:r>
          </a:p>
          <a:p>
            <a:r>
              <a:rPr lang="en-US" dirty="0"/>
              <a:t>- Other Mood Disorder</a:t>
            </a:r>
          </a:p>
          <a:p>
            <a:r>
              <a:rPr lang="en-US" dirty="0"/>
              <a:t>- Generalized Anxiety Disorder</a:t>
            </a:r>
          </a:p>
          <a:p>
            <a:r>
              <a:rPr lang="en-US" dirty="0"/>
              <a:t>- Prolonged Grief Disorder</a:t>
            </a:r>
          </a:p>
          <a:p>
            <a:r>
              <a:rPr lang="en-US" dirty="0"/>
              <a:t>- Adjustment Disorder</a:t>
            </a:r>
          </a:p>
          <a:p>
            <a:r>
              <a:rPr lang="en-US" dirty="0"/>
              <a:t>- </a:t>
            </a:r>
            <a:r>
              <a:rPr lang="en-US" dirty="0">
                <a:highlight>
                  <a:srgbClr val="FFFF00"/>
                </a:highlight>
              </a:rPr>
              <a:t>A different diagnosis not listed above</a:t>
            </a:r>
          </a:p>
          <a:p>
            <a:r>
              <a:rPr lang="en-US" dirty="0"/>
              <a:t>- </a:t>
            </a:r>
            <a:r>
              <a:rPr lang="en-US" dirty="0">
                <a:highlight>
                  <a:srgbClr val="FFFF00"/>
                </a:highlight>
              </a:rPr>
              <a:t>No Diagnosis; symptoms and 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   </a:t>
            </a:r>
            <a:r>
              <a:rPr lang="en-US" dirty="0" err="1">
                <a:highlight>
                  <a:srgbClr val="FFFF00"/>
                </a:highlight>
              </a:rPr>
              <a:t>behaviours</a:t>
            </a:r>
            <a:r>
              <a:rPr lang="en-US" dirty="0">
                <a:highlight>
                  <a:srgbClr val="FFFF00"/>
                </a:highlight>
              </a:rPr>
              <a:t> are within normal limits</a:t>
            </a:r>
          </a:p>
        </p:txBody>
      </p:sp>
    </p:spTree>
    <p:extLst>
      <p:ext uri="{BB962C8B-B14F-4D97-AF65-F5344CB8AC3E}">
        <p14:creationId xmlns:p14="http://schemas.microsoft.com/office/powerpoint/2010/main" val="1350613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16102D-84FC-DA9E-8D4A-39E07086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763"/>
          </a:xfrm>
        </p:spPr>
        <p:txBody>
          <a:bodyPr/>
          <a:lstStyle/>
          <a:p>
            <a:r>
              <a:rPr lang="en-US" dirty="0"/>
              <a:t>Results with </a:t>
            </a:r>
            <a:r>
              <a:rPr lang="en-US" dirty="0" err="1"/>
              <a:t>Huggingface</a:t>
            </a:r>
            <a:r>
              <a:rPr lang="en-US" dirty="0"/>
              <a:t> – updated labels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DE196F-B76C-F77B-978A-79815EDE49D3}"/>
              </a:ext>
            </a:extLst>
          </p:cNvPr>
          <p:cNvSpPr txBox="1"/>
          <p:nvPr/>
        </p:nvSpPr>
        <p:spPr>
          <a:xfrm>
            <a:off x="600329" y="1985962"/>
            <a:ext cx="1099134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Potential stress-related diagnoses (ICD11):</a:t>
            </a:r>
          </a:p>
          <a:p>
            <a:r>
              <a:rPr lang="en-US" dirty="0"/>
              <a:t>- Post-Traumatic Stress Disorder (PTSD)</a:t>
            </a:r>
          </a:p>
          <a:p>
            <a:r>
              <a:rPr lang="en-US" dirty="0"/>
              <a:t>- Complex Post-Traumatic Stress Disorder (CPTSD)</a:t>
            </a:r>
          </a:p>
          <a:p>
            <a:r>
              <a:rPr lang="en-US" dirty="0"/>
              <a:t>- Prolonged Grief Disorder</a:t>
            </a:r>
          </a:p>
          <a:p>
            <a:r>
              <a:rPr lang="en-US" dirty="0"/>
              <a:t>- Adjustment Disorder</a:t>
            </a:r>
          </a:p>
          <a:p>
            <a:r>
              <a:rPr lang="en-US" dirty="0"/>
              <a:t>- Other Disorder Specifically Associated with Stress</a:t>
            </a:r>
          </a:p>
          <a:p>
            <a:r>
              <a:rPr lang="en-US" dirty="0"/>
              <a:t>- Acute Stress Reaction</a:t>
            </a:r>
          </a:p>
          <a:p>
            <a:r>
              <a:rPr lang="en-US" dirty="0">
                <a:highlight>
                  <a:srgbClr val="FFFF00"/>
                </a:highlight>
              </a:rPr>
              <a:t>- A diagnosis from a different diagnostic area (e.g. mood disorders, psychotic disorders, personality disorders)</a:t>
            </a:r>
          </a:p>
          <a:p>
            <a:r>
              <a:rPr lang="en-US" dirty="0">
                <a:highlight>
                  <a:srgbClr val="FFFF00"/>
                </a:highlight>
              </a:rPr>
              <a:t>- No Diagnosis; normal reaction to stressful event(s)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923B6-2589-2329-6238-6E32B811AF84}"/>
              </a:ext>
            </a:extLst>
          </p:cNvPr>
          <p:cNvSpPr txBox="1"/>
          <p:nvPr/>
        </p:nvSpPr>
        <p:spPr>
          <a:xfrm>
            <a:off x="600329" y="5400675"/>
            <a:ext cx="56231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General notes: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Each clinician sees only 2 vignettes</a:t>
            </a:r>
          </a:p>
          <a:p>
            <a:pPr marL="285750" indent="-285750">
              <a:buFontTx/>
              <a:buChar char="-"/>
            </a:pPr>
            <a:r>
              <a:rPr lang="en-US" dirty="0"/>
              <a:t>Initial selection of disorders is the same across both</a:t>
            </a:r>
          </a:p>
        </p:txBody>
      </p:sp>
    </p:spTree>
    <p:extLst>
      <p:ext uri="{BB962C8B-B14F-4D97-AF65-F5344CB8AC3E}">
        <p14:creationId xmlns:p14="http://schemas.microsoft.com/office/powerpoint/2010/main" val="13634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FD14-BE89-CB64-8C5D-34BB64CD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with </a:t>
            </a:r>
            <a:r>
              <a:rPr lang="en-US" dirty="0" err="1"/>
              <a:t>HuggingFace</a:t>
            </a:r>
            <a:r>
              <a:rPr lang="en-US" dirty="0"/>
              <a:t> &amp; updated labels</a:t>
            </a:r>
          </a:p>
        </p:txBody>
      </p:sp>
      <p:pic>
        <p:nvPicPr>
          <p:cNvPr id="5" name="Content Placeholder 4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D8FB1092-4121-E752-B97D-A22949456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345" y="1797050"/>
            <a:ext cx="5801784" cy="4351338"/>
          </a:xfrm>
        </p:spPr>
      </p:pic>
      <p:pic>
        <p:nvPicPr>
          <p:cNvPr id="6" name="Picture 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74DE520F-95A2-85D9-13CF-F10E336BB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130" y="1797050"/>
            <a:ext cx="5801784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FC862A-78B9-11D6-4021-300B163C729A}"/>
              </a:ext>
            </a:extLst>
          </p:cNvPr>
          <p:cNvSpPr txBox="1"/>
          <p:nvPr/>
        </p:nvSpPr>
        <p:spPr>
          <a:xfrm>
            <a:off x="8791472" y="1368426"/>
            <a:ext cx="158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Llama31 - 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4ABAD4-756F-5FEC-2DBE-FACBF63DA14E}"/>
              </a:ext>
            </a:extLst>
          </p:cNvPr>
          <p:cNvSpPr txBox="1"/>
          <p:nvPr/>
        </p:nvSpPr>
        <p:spPr>
          <a:xfrm>
            <a:off x="2631392" y="1397795"/>
            <a:ext cx="2841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Llama31 – updated labels</a:t>
            </a:r>
          </a:p>
        </p:txBody>
      </p:sp>
    </p:spTree>
    <p:extLst>
      <p:ext uri="{BB962C8B-B14F-4D97-AF65-F5344CB8AC3E}">
        <p14:creationId xmlns:p14="http://schemas.microsoft.com/office/powerpoint/2010/main" val="64665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2832A-CF0C-B6F2-CE69-AF5977A2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/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45B1A-6DD4-E652-0CAF-9461AA8D7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Model now also predicts “No diagnosis”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Qualtrics: 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please share anxiety again (messed up logic..)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Did not fully mimic Qualtrics with regards to the specific question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Classification:</a:t>
            </a:r>
          </a:p>
          <a:p>
            <a:pPr lvl="1"/>
            <a:r>
              <a:rPr lang="en-US" dirty="0"/>
              <a:t>In Mood: additional labels made classification more complicated</a:t>
            </a:r>
          </a:p>
          <a:p>
            <a:pPr lvl="1"/>
            <a:r>
              <a:rPr lang="en-US" dirty="0"/>
              <a:t>Bipolar I and II messed up</a:t>
            </a:r>
          </a:p>
          <a:p>
            <a:pPr lvl="1"/>
            <a:r>
              <a:rPr lang="en-US" dirty="0"/>
              <a:t>Now also predicting “No diagnosis”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Next steps:</a:t>
            </a:r>
          </a:p>
          <a:p>
            <a:pPr>
              <a:buFontTx/>
              <a:buChar char="-"/>
            </a:pPr>
            <a:r>
              <a:rPr lang="en-US" sz="2600" dirty="0"/>
              <a:t>Make code even more dynamic</a:t>
            </a:r>
          </a:p>
          <a:p>
            <a:pPr>
              <a:buFontTx/>
              <a:buChar char="-"/>
            </a:pPr>
            <a:r>
              <a:rPr lang="en-US" sz="2600" dirty="0"/>
              <a:t>Evaluation more automated</a:t>
            </a:r>
          </a:p>
          <a:p>
            <a:pPr>
              <a:buFontTx/>
              <a:buChar char="-"/>
            </a:pPr>
            <a:r>
              <a:rPr lang="en-US" sz="2600" dirty="0"/>
              <a:t>Run on HPC with 70B model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47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707D-E818-1BF9-83CC-39AA003AB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1B0461-B91A-BCA2-6EF5-19DE1921A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540521"/>
              </p:ext>
            </p:extLst>
          </p:nvPr>
        </p:nvGraphicFramePr>
        <p:xfrm>
          <a:off x="1374775" y="2501900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4092415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374374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44643331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1535421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7035541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3378784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130946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00880022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05609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74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24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044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28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537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95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20AD-BE60-AE73-4B3A-1E1042AC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025"/>
          </a:xfrm>
        </p:spPr>
        <p:txBody>
          <a:bodyPr/>
          <a:lstStyle/>
          <a:p>
            <a:r>
              <a:rPr lang="en-US" dirty="0"/>
              <a:t>Old results with </a:t>
            </a:r>
            <a:r>
              <a:rPr lang="en-US" dirty="0" err="1"/>
              <a:t>Ollama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4C6CD-C28C-AA3F-442B-10ECB92C6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366838"/>
            <a:ext cx="64262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08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366</Words>
  <Application>Microsoft Macintosh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-webkit-standard</vt:lpstr>
      <vt:lpstr>Aptos</vt:lpstr>
      <vt:lpstr>Aptos Display</vt:lpstr>
      <vt:lpstr>Arial</vt:lpstr>
      <vt:lpstr>Office Theme</vt:lpstr>
      <vt:lpstr>Migrated to huggingface </vt:lpstr>
      <vt:lpstr>Results with Huggingface</vt:lpstr>
      <vt:lpstr>Results with Huggingface</vt:lpstr>
      <vt:lpstr>Results with Huggingface – updated labels</vt:lpstr>
      <vt:lpstr>Results with Huggingface – updated labels</vt:lpstr>
      <vt:lpstr>Results with HuggingFace &amp; updated labels</vt:lpstr>
      <vt:lpstr>Questions / Next steps</vt:lpstr>
      <vt:lpstr>Overview results</vt:lpstr>
      <vt:lpstr>Old results with Ollama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Migrated to huggingface </dc:title>
  <dc:creator>Mueller, Victoria</dc:creator>
  <cp:lastModifiedBy>Mueller, Victoria</cp:lastModifiedBy>
  <cp:revision>3</cp:revision>
  <dcterms:created xsi:type="dcterms:W3CDTF">2025-04-30T15:34:20Z</dcterms:created>
  <dcterms:modified xsi:type="dcterms:W3CDTF">2025-04-30T15:59:43Z</dcterms:modified>
</cp:coreProperties>
</file>